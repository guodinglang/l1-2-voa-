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x" ContentType="application/vnd.openxmlformats-officedocument.spreadsheetml.sheet"/>
  <Default Extension="png" ContentType="image/png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580" r:id="rId3"/>
    <p:sldId id="627" r:id="rId4"/>
    <p:sldId id="640" r:id="rId5"/>
    <p:sldId id="652" r:id="rId6"/>
    <p:sldId id="654" r:id="rId7"/>
    <p:sldId id="655" r:id="rId8"/>
    <p:sldId id="617" r:id="rId9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5" name="作者" initials="A" lastIdx="0" clrIdx="24"/>
  <p:cmAuthor id="2" name="Administra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62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1434" y="-378"/>
      </p:cViewPr>
      <p:guideLst>
        <p:guide orient="horz" pos="222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6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31414D-04C4-4A9C-9BF0-5C47E390DC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B36316-AC1A-40DC-ACB8-2D419362C09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A8F1-56ED-44E3-81C2-905DB8CB579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3734-F031-4E07-A0DE-23FE0956571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3B50-FE8C-4FC1-82B2-FA70421A96C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F312-40FB-4307-A5DF-2E8931DF7E9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E8BF-3F56-464B-AB0F-B77D20F0D5E3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7CDF-3831-4508-BF04-7312BF78C318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5DDBE-4DDB-48C4-AF90-FF87866E0BE3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D243E-A06B-4B47-A5C0-23F5A611276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94EC-76F7-4F0C-8668-11896B826F1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00902-1D5C-4182-9DC0-11504E37E30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6E883-5372-4324-B1E1-A02644F3E9C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 bwMode="auto">
      <p:bgPr>
        <a:solidFill>
          <a:schemeClr val="bg1">
            <a:alpha val="4509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6" descr="PPTyong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2043"/>
          <a:stretch>
            <a:fillRect/>
          </a:stretch>
        </p:blipFill>
        <p:spPr bwMode="auto">
          <a:xfrm>
            <a:off x="-17087" y="6339725"/>
            <a:ext cx="122174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311217" y="6356351"/>
            <a:ext cx="2844800" cy="366183"/>
          </a:xfrm>
        </p:spPr>
        <p:txBody>
          <a:bodyPr wrap="square" numCol="1" anchorCtr="0" compatLnSpc="1"/>
          <a:lstStyle>
            <a:lvl1pPr fontAlgn="base">
              <a:defRPr sz="1200" smtClean="0">
                <a:solidFill>
                  <a:schemeClr val="tx1"/>
                </a:solidFill>
              </a:defRPr>
            </a:lvl1pPr>
          </a:lstStyle>
          <a:p>
            <a:fld id="{E3179733-CA4D-4A20-9DD4-6038C4ACEF81}" type="slidenum">
              <a:rPr altLang="en-US"/>
            </a:fld>
            <a:endParaRPr lang="en-US" altLang="en-US"/>
          </a:p>
        </p:txBody>
      </p:sp>
      <p:sp>
        <p:nvSpPr>
          <p:cNvPr id="10" name="矩形 2"/>
          <p:cNvSpPr/>
          <p:nvPr userDrawn="1"/>
        </p:nvSpPr>
        <p:spPr>
          <a:xfrm>
            <a:off x="111070" y="6506150"/>
            <a:ext cx="2087934" cy="2294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900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  <a:sym typeface="Arial" panose="020B0604020202020204" pitchFamily="34" charset="0"/>
              </a:rPr>
              <a:t>深圳市欧亿光电技术有限公司</a:t>
            </a:r>
            <a:endParaRPr lang="zh-CN" altLang="en-US" sz="900" dirty="0">
              <a:solidFill>
                <a:schemeClr val="bg1"/>
              </a:solidFill>
              <a:latin typeface="等线 Light" panose="02010600030101010101" charset="-122"/>
              <a:ea typeface="等线 Light" panose="02010600030101010101" charset="-122"/>
              <a:sym typeface="Arial" panose="020B0604020202020204" pitchFamily="34" charset="0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10345055" y="6434168"/>
            <a:ext cx="1568492" cy="2598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dist">
              <a:lnSpc>
                <a:spcPct val="110000"/>
              </a:lnSpc>
            </a:pPr>
            <a:r>
              <a:rPr lang="en-US" altLang="zh-CN" sz="1000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  <a:sym typeface="Arial" panose="020B0604020202020204" pitchFamily="34" charset="0"/>
              </a:rPr>
              <a:t>www.oe-photonics.cn</a:t>
            </a:r>
            <a:endParaRPr lang="en-US" altLang="zh-CN" sz="1000" dirty="0">
              <a:solidFill>
                <a:schemeClr val="bg1"/>
              </a:solidFill>
              <a:latin typeface="等线 Light" panose="02010600030101010101" charset="-122"/>
              <a:ea typeface="等线 Light" panose="02010600030101010101" charset="-122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82944" y="786331"/>
            <a:ext cx="7610475" cy="4886325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593369" y="476250"/>
            <a:ext cx="9610530" cy="545927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4" descr="左右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66400" y="254922"/>
            <a:ext cx="1125538" cy="227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文本框 5"/>
          <p:cNvSpPr txBox="1"/>
          <p:nvPr userDrawn="1"/>
        </p:nvSpPr>
        <p:spPr>
          <a:xfrm>
            <a:off x="10344150" y="543847"/>
            <a:ext cx="1620838" cy="212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800" dirty="0">
                <a:latin typeface="等线 Light" panose="02010600030101010101" charset="-122"/>
                <a:ea typeface="等线 Light" panose="02010600030101010101" charset="-122"/>
              </a:rPr>
              <a:t>——</a:t>
            </a:r>
            <a:r>
              <a:rPr lang="zh-CN" altLang="en-US" sz="800" dirty="0">
                <a:latin typeface="等线 Light" panose="02010600030101010101" charset="-122"/>
                <a:ea typeface="等线 Light" panose="02010600030101010101" charset="-122"/>
              </a:rPr>
              <a:t>先进的光器件与模块供应商</a:t>
            </a:r>
            <a:endParaRPr lang="zh-CN" altLang="en-US" sz="800" dirty="0">
              <a:latin typeface="等线 Light" panose="02010600030101010101" charset="-122"/>
              <a:ea typeface="等线 Light" panose="02010600030101010101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4" descr="左右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6400" y="254922"/>
            <a:ext cx="1125538" cy="227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5"/>
          <p:cNvSpPr txBox="1"/>
          <p:nvPr userDrawn="1"/>
        </p:nvSpPr>
        <p:spPr>
          <a:xfrm>
            <a:off x="10344150" y="543847"/>
            <a:ext cx="1620838" cy="212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800" dirty="0">
                <a:latin typeface="等线 Light" panose="02010600030101010101" charset="-122"/>
                <a:ea typeface="等线 Light" panose="02010600030101010101" charset="-122"/>
              </a:rPr>
              <a:t>——</a:t>
            </a:r>
            <a:r>
              <a:rPr lang="zh-CN" altLang="en-US" sz="800" dirty="0">
                <a:latin typeface="等线 Light" panose="02010600030101010101" charset="-122"/>
                <a:ea typeface="等线 Light" panose="02010600030101010101" charset="-122"/>
              </a:rPr>
              <a:t>先进的光器件与模块供应商</a:t>
            </a:r>
            <a:endParaRPr lang="zh-CN" altLang="en-US" sz="800" dirty="0"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76225" y="6356350"/>
            <a:ext cx="1781175" cy="36512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zh-CN" dirty="0"/>
              <a:t>OE Confidential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/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1C319-A288-4247-9632-80DC3AA0ECF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10.emf"/><Relationship Id="rId6" Type="http://schemas.openxmlformats.org/officeDocument/2006/relationships/package" Target="../embeddings/Workbook1.xlsx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13.emf"/><Relationship Id="rId4" Type="http://schemas.openxmlformats.org/officeDocument/2006/relationships/package" Target="../embeddings/Workbook2.xlsx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6.emf"/><Relationship Id="rId3" Type="http://schemas.openxmlformats.org/officeDocument/2006/relationships/package" Target="../embeddings/Workbook3.xlsx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.v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19.emf"/><Relationship Id="rId4" Type="http://schemas.openxmlformats.org/officeDocument/2006/relationships/package" Target="../embeddings/Workbook4.xlsx"/><Relationship Id="rId3" Type="http://schemas.openxmlformats.org/officeDocument/2006/relationships/tags" Target="../tags/tag5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7"/>
          <p:cNvSpPr>
            <a:spLocks noChangeArrowheads="1"/>
          </p:cNvSpPr>
          <p:nvPr/>
        </p:nvSpPr>
        <p:spPr bwMode="auto">
          <a:xfrm>
            <a:off x="2635250" y="1990725"/>
            <a:ext cx="6921500" cy="1288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735" b="1" dirty="0" smtClean="0">
                <a:solidFill>
                  <a:srgbClr val="1D6295"/>
                </a:solidFill>
                <a:ea typeface="微软雅黑" panose="020B0503020204020204" pitchFamily="34" charset="-122"/>
                <a:cs typeface="Calibri" panose="020F0502020204030204" pitchFamily="34" charset="0"/>
              </a:rPr>
              <a:t>L2-1 </a:t>
            </a:r>
            <a:r>
              <a:rPr lang="zh-CN" altLang="en-US" sz="3735" b="1" dirty="0" smtClean="0">
                <a:solidFill>
                  <a:srgbClr val="1D6295"/>
                </a:solidFill>
                <a:ea typeface="微软雅黑" panose="020B0503020204020204" pitchFamily="34" charset="-122"/>
                <a:cs typeface="Calibri" panose="020F0502020204030204" pitchFamily="34" charset="0"/>
              </a:rPr>
              <a:t>开环马达</a:t>
            </a:r>
            <a:r>
              <a:rPr lang="en-US" altLang="zh-CN" sz="3735" b="1" dirty="0" smtClean="0">
                <a:solidFill>
                  <a:srgbClr val="1D6295"/>
                </a:solidFill>
                <a:ea typeface="微软雅黑" panose="020B0503020204020204" pitchFamily="34" charset="-122"/>
                <a:cs typeface="Calibri" panose="020F0502020204030204" pitchFamily="34" charset="0"/>
              </a:rPr>
              <a:t>VOA</a:t>
            </a:r>
            <a:r>
              <a:rPr lang="zh-CN" altLang="en-US" sz="3735" b="1" dirty="0" smtClean="0">
                <a:solidFill>
                  <a:srgbClr val="1D6295"/>
                </a:solidFill>
                <a:ea typeface="微软雅黑" panose="020B0503020204020204" pitchFamily="34" charset="-122"/>
                <a:cs typeface="Calibri" panose="020F0502020204030204" pitchFamily="34" charset="0"/>
              </a:rPr>
              <a:t>精度、切换速度、稳定性验证</a:t>
            </a:r>
            <a:endParaRPr lang="zh-CN" altLang="en-US" sz="3735" b="1" dirty="0" smtClean="0">
              <a:solidFill>
                <a:srgbClr val="1D6295"/>
              </a:solidFill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14340" name="图片 9" descr="PPTyong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30" t="6784" r="39340" b="92084"/>
          <a:stretch>
            <a:fillRect/>
          </a:stretch>
        </p:blipFill>
        <p:spPr bwMode="auto">
          <a:xfrm flipV="1">
            <a:off x="2735671" y="3279439"/>
            <a:ext cx="6616343" cy="130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4847861" y="3538069"/>
            <a:ext cx="345638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2026 07 20</a:t>
            </a:r>
            <a:endParaRPr lang="en-US" altLang="zh-CN" sz="2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79733-CA4D-4A20-9DD4-6038C4ACEF81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一、多模光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衰减器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2907030" y="4633595"/>
            <a:ext cx="1360805" cy="537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衰减器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536180" y="4803775"/>
            <a:ext cx="1926590" cy="568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产品内部</a:t>
            </a:r>
            <a:r>
              <a:rPr lang="zh-CN" altLang="en-US"/>
              <a:t>结构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717040" y="5215890"/>
            <a:ext cx="9008745" cy="869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器件产自</a:t>
            </a:r>
            <a:r>
              <a:rPr lang="en-US" altLang="zh-CN"/>
              <a:t>DICON</a:t>
            </a:r>
            <a:r>
              <a:rPr lang="zh-CN" altLang="en-US"/>
              <a:t>，包含马达及衰减片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905" y="877570"/>
            <a:ext cx="4896485" cy="35464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90" y="877570"/>
            <a:ext cx="5439410" cy="35458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1.1</a:t>
              </a:r>
              <a:r>
                <a:rPr 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马达步数与衰减值的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关系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718185" y="5622290"/>
            <a:ext cx="9690735" cy="57721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600">
                <a:latin typeface="Arial" panose="020B0604020202020204" pitchFamily="34" charset="0"/>
                <a:ea typeface="微软雅黑" panose="020B0503020204020204" pitchFamily="34" charset="-122"/>
              </a:rPr>
              <a:t>7/9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日测试结果和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</a:rPr>
              <a:t>7/10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结果完全不同，出死区后光路偏移了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</a:rPr>
              <a:t>3.3dB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，怀疑是连续运行电机发热导致光路偏移，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</a:rPr>
              <a:t>7/20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日测试步数和衰减关系又恢复到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</a:rPr>
              <a:t>7/9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日的结果，原因未知</a:t>
            </a: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2057400" y="5005705"/>
            <a:ext cx="1767840" cy="537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7/9</a:t>
            </a:r>
            <a:r>
              <a:rPr lang="zh-CN" altLang="en-US"/>
              <a:t>日测试</a:t>
            </a:r>
            <a:r>
              <a:rPr lang="zh-CN" altLang="en-US"/>
              <a:t>结果</a:t>
            </a:r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8169275" y="5005705"/>
            <a:ext cx="1767840" cy="537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7/10</a:t>
            </a:r>
            <a:r>
              <a:rPr lang="zh-CN" altLang="en-US"/>
              <a:t>日测试</a:t>
            </a:r>
            <a:r>
              <a:rPr lang="zh-CN" altLang="en-US"/>
              <a:t>结果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15" y="1115695"/>
            <a:ext cx="5324475" cy="35718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115695"/>
            <a:ext cx="5257800" cy="3359785"/>
          </a:xfrm>
          <a:prstGeom prst="rect">
            <a:avLst/>
          </a:prstGeom>
        </p:spPr>
      </p:pic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728325" y="4835525"/>
          <a:ext cx="1362710" cy="956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" r:id="rId6" imgW="1362710" imgH="511175" progId="Package">
                  <p:embed/>
                </p:oleObj>
              </mc:Choice>
              <mc:Fallback>
                <p:oleObj name="" r:id="rId6" imgW="1362710" imgH="511175" progId="Package">
                  <p:embed/>
                  <p:pic>
                    <p:nvPicPr>
                      <p:cNvPr id="0" name="图片 409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728325" y="4835525"/>
                        <a:ext cx="1362710" cy="956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1.2 1000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步进测试精度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276225" y="4899660"/>
            <a:ext cx="9795510" cy="128524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sz="1600">
                <a:latin typeface="Arial" panose="020B0604020202020204" pitchFamily="34" charset="0"/>
                <a:ea typeface="微软雅黑" panose="020B0503020204020204" pitchFamily="34" charset="-122"/>
              </a:rPr>
              <a:t>获取校准点和测试都是在预热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</a:rPr>
              <a:t>30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分钟后，如果冷启动测试所有测试点会向下偏移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</a:rPr>
              <a:t>0.5dB</a:t>
            </a:r>
            <a:endParaRPr lang="en-US" altLang="zh-CN" sz="16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</a:rPr>
              <a:t>VOA 1000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步进和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</a:rPr>
              <a:t>100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步进，区别是校准点的距离，例如移动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</a:rPr>
              <a:t>1000,2000,3000....119000,120000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微步采样，</a:t>
            </a: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移动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</a:rPr>
              <a:t>100,200,300....119900,120000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微步采样</a:t>
            </a: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1017905"/>
            <a:ext cx="5819140" cy="35109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175" y="1025525"/>
            <a:ext cx="5535930" cy="3562350"/>
          </a:xfrm>
          <a:prstGeom prst="rect">
            <a:avLst/>
          </a:prstGeom>
        </p:spPr>
      </p:pic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133965" y="4946015"/>
          <a:ext cx="1422400" cy="852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4" imgW="1111885" imgH="511175" progId="Package">
                  <p:embed/>
                </p:oleObj>
              </mc:Choice>
              <mc:Fallback>
                <p:oleObj name="" r:id="rId4" imgW="1111885" imgH="511175" progId="Package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33965" y="4946015"/>
                        <a:ext cx="1422400" cy="852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1.3 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切换通道速度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9025" y="1497965"/>
            <a:ext cx="6022975" cy="378523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 t="1678"/>
          <a:stretch>
            <a:fillRect/>
          </a:stretch>
        </p:blipFill>
        <p:spPr>
          <a:xfrm>
            <a:off x="148590" y="1497965"/>
            <a:ext cx="5947410" cy="3784600"/>
          </a:xfrm>
          <a:prstGeom prst="rect">
            <a:avLst/>
          </a:prstGeom>
        </p:spPr>
      </p:pic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782945" y="5634990"/>
          <a:ext cx="82486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824865" imgH="511175" progId="Package">
                  <p:embed/>
                </p:oleObj>
              </mc:Choice>
              <mc:Fallback>
                <p:oleObj name="" r:id="rId3" imgW="824865" imgH="511175" progId="Package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82945" y="5634990"/>
                        <a:ext cx="824865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1.4 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切换通道稳定性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35" y="1158240"/>
            <a:ext cx="5629275" cy="38481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955" y="1158240"/>
            <a:ext cx="5638800" cy="376809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276225" y="5135880"/>
            <a:ext cx="11353165" cy="128524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sz="1600">
                <a:latin typeface="Arial" panose="020B0604020202020204" pitchFamily="34" charset="0"/>
                <a:ea typeface="微软雅黑" panose="020B0503020204020204" pitchFamily="34" charset="-122"/>
              </a:rPr>
              <a:t>切换通道稳定性测试方法是：</a:t>
            </a:r>
            <a:endParaRPr lang="zh-CN" sz="16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</a:rPr>
              <a:t>1.  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从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</a:rPr>
              <a:t>0dB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切到对应衰减目标值，比如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</a:rPr>
              <a:t>0dB&gt;1dB&gt;0dB&gt;1dB,0dB&gt;2dB&gt;0dB&gt;2dB,0dB&gt;3dB&gt;0dB&gt;3dB,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就这样循环测试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</a:rPr>
              <a:t>50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次；</a:t>
            </a: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</a:rPr>
              <a:t>2.  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从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</a:rPr>
              <a:t>0dB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到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</a:rPr>
              <a:t>32dB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连续移动，比如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</a:rPr>
              <a:t>0dB&gt;1dB&gt;2dB&gt;3dB......&gt;30dB&gt;31dB&gt;32dB,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就这样循环测试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</a:rPr>
              <a:t>50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次</a:t>
            </a: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从上面两张图可以判断，马达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</a:rPr>
              <a:t>VOA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的稳定性很好，马达几乎不会丢步</a:t>
            </a: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576435" y="5909945"/>
          <a:ext cx="95948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r:id="rId4" imgW="959485" imgH="511175" progId="Package">
                  <p:embed/>
                </p:oleObj>
              </mc:Choice>
              <mc:Fallback>
                <p:oleObj name="" r:id="rId4" imgW="959485" imgH="511175" progId="Package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576435" y="5909945"/>
                        <a:ext cx="959485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OE Confidential</a:t>
            </a:r>
            <a:endParaRPr lang="zh-CN" altLang="en-US" dirty="0"/>
          </a:p>
        </p:txBody>
      </p:sp>
      <p:sp>
        <p:nvSpPr>
          <p:cNvPr id="14" name="文本框 4"/>
          <p:cNvSpPr txBox="1">
            <a:spLocks noChangeArrowheads="1"/>
          </p:cNvSpPr>
          <p:nvPr/>
        </p:nvSpPr>
        <p:spPr bwMode="auto">
          <a:xfrm>
            <a:off x="2491318" y="2468920"/>
            <a:ext cx="68199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 b="1" dirty="0" smtClean="0">
                <a:solidFill>
                  <a:schemeClr val="bg1"/>
                </a:solidFill>
              </a:rPr>
              <a:t>END</a:t>
            </a:r>
            <a:endParaRPr lang="en-US" altLang="zh-CN" sz="40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348.65,&quot;left&quot;:18.75,&quot;top&quot;:87.85,&quot;width&quot;:924.05}"/>
</p:tagLst>
</file>

<file path=ppt/tags/tag3.xml><?xml version="1.0" encoding="utf-8"?>
<p:tagLst xmlns:p="http://schemas.openxmlformats.org/presentationml/2006/main">
  <p:tag name="KSO_WM_DIAGRAM_VIRTUALLY_FRAME" val="{&quot;height&quot;:348.65,&quot;left&quot;:18.75,&quot;top&quot;:87.85,&quot;width&quot;:924.05}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commondata" val="eyJoZGlkIjoiYzk2ODZjMGQwMzU3NjVmNTBkZTM3NmQ2M2YxZDA4Mm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656</Words>
  <Application>WPS 演示</Application>
  <PresentationFormat>自定义</PresentationFormat>
  <Paragraphs>64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等线 Light</vt:lpstr>
      <vt:lpstr>Calibri</vt:lpstr>
      <vt:lpstr>微软雅黑</vt:lpstr>
      <vt:lpstr>Arial Unicode MS</vt:lpstr>
      <vt:lpstr>Office 主题</vt:lpstr>
      <vt:lpstr>Package</vt:lpstr>
      <vt:lpstr>Package</vt:lpstr>
      <vt:lpstr>Package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zhibo ye</dc:creator>
  <cp:lastModifiedBy>焕爷</cp:lastModifiedBy>
  <cp:revision>418</cp:revision>
  <dcterms:created xsi:type="dcterms:W3CDTF">2022-01-21T03:43:00Z</dcterms:created>
  <dcterms:modified xsi:type="dcterms:W3CDTF">2026-07-20T11:49:16Z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E262A56F8B1442DFA542EF5EADC445CA</vt:lpwstr>
  </property>
  <property fmtid="{D5CDD505-2E9C-101B-9397-08002B2CF9AE}" pid="3" name="KSOProductBuildVer">
    <vt:lpwstr>2052-12.1.0.26895</vt:lpwstr>
  </property>
</Properties>
</file>